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1"/>
  </p:notesMasterIdLst>
  <p:sldIdLst>
    <p:sldId id="258" r:id="rId5"/>
    <p:sldId id="260" r:id="rId6"/>
    <p:sldId id="262" r:id="rId7"/>
    <p:sldId id="264" r:id="rId8"/>
    <p:sldId id="286" r:id="rId9"/>
    <p:sldId id="316" r:id="rId10"/>
    <p:sldId id="296" r:id="rId11"/>
    <p:sldId id="300" r:id="rId12"/>
    <p:sldId id="323" r:id="rId13"/>
    <p:sldId id="306" r:id="rId14"/>
    <p:sldId id="307" r:id="rId15"/>
    <p:sldId id="271" r:id="rId16"/>
    <p:sldId id="326" r:id="rId17"/>
    <p:sldId id="327" r:id="rId18"/>
    <p:sldId id="330" r:id="rId19"/>
    <p:sldId id="33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293" autoAdjust="0"/>
  </p:normalViewPr>
  <p:slideViewPr>
    <p:cSldViewPr snapToGrid="0">
      <p:cViewPr varScale="1">
        <p:scale>
          <a:sx n="131" d="100"/>
          <a:sy n="131" d="100"/>
        </p:scale>
        <p:origin x="36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Threshold estimate and posterior SD, trial 0 to 12 (ms)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theta-hat (ms)</c:v>
          </c:tx>
          <c:spPr>
            <a:ln w="28575">
              <a:solidFill>
                <a:srgbClr val="1F6FB2"/>
              </a:solidFill>
            </a:ln>
          </c:spPr>
          <c:marker>
            <c:symbol val="circle"/>
            <c:size val="6"/>
            <c:spPr>
              <a:solidFill>
                <a:srgbClr val="1F6FB2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13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</c:numLit>
          </c:cat>
          <c:val>
            <c:numLit>
              <c:formatCode>General</c:formatCode>
              <c:ptCount val="13"/>
              <c:pt idx="0">
                <c:v>92.5</c:v>
              </c:pt>
              <c:pt idx="1">
                <c:v>122.4</c:v>
              </c:pt>
              <c:pt idx="2">
                <c:v>103.9</c:v>
              </c:pt>
              <c:pt idx="3">
                <c:v>89.6</c:v>
              </c:pt>
              <c:pt idx="4">
                <c:v>76.5</c:v>
              </c:pt>
              <c:pt idx="5">
                <c:v>68.099999999999994</c:v>
              </c:pt>
              <c:pt idx="6">
                <c:v>59.1</c:v>
              </c:pt>
              <c:pt idx="7">
                <c:v>66.3</c:v>
              </c:pt>
              <c:pt idx="8">
                <c:v>62.9</c:v>
              </c:pt>
              <c:pt idx="9">
                <c:v>58.5</c:v>
              </c:pt>
              <c:pt idx="10">
                <c:v>65.099999999999994</c:v>
              </c:pt>
              <c:pt idx="11">
                <c:v>63</c:v>
              </c:pt>
              <c:pt idx="12">
                <c:v>59.9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E7A6-490C-96DB-4EB106DE2A97}"/>
            </c:ext>
          </c:extLst>
        </c:ser>
        <c:ser>
          <c:idx val="1"/>
          <c:order val="1"/>
          <c:tx>
            <c:v>posterior SD (ms)</c:v>
          </c:tx>
          <c:spPr>
            <a:ln w="28575">
              <a:solidFill>
                <a:srgbClr val="C2410C"/>
              </a:solidFill>
            </a:ln>
          </c:spPr>
          <c:marker>
            <c:symbol val="circle"/>
            <c:size val="6"/>
            <c:spPr>
              <a:solidFill>
                <a:srgbClr val="C2410C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Lit>
              <c:formatCode>General</c:formatCode>
              <c:ptCount val="13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  <c:pt idx="11">
                <c:v>11</c:v>
              </c:pt>
              <c:pt idx="12">
                <c:v>12</c:v>
              </c:pt>
            </c:numLit>
          </c:cat>
          <c:val>
            <c:numLit>
              <c:formatCode>General</c:formatCode>
              <c:ptCount val="13"/>
              <c:pt idx="0">
                <c:v>51.8</c:v>
              </c:pt>
              <c:pt idx="1">
                <c:v>37.700000000000003</c:v>
              </c:pt>
              <c:pt idx="2">
                <c:v>37</c:v>
              </c:pt>
              <c:pt idx="3">
                <c:v>32.799999999999997</c:v>
              </c:pt>
              <c:pt idx="4">
                <c:v>28</c:v>
              </c:pt>
              <c:pt idx="5">
                <c:v>23.8</c:v>
              </c:pt>
              <c:pt idx="6">
                <c:v>21.6</c:v>
              </c:pt>
              <c:pt idx="7">
                <c:v>17.899999999999999</c:v>
              </c:pt>
              <c:pt idx="8">
                <c:v>15.5</c:v>
              </c:pt>
              <c:pt idx="9">
                <c:v>14</c:v>
              </c:pt>
              <c:pt idx="10">
                <c:v>13.6</c:v>
              </c:pt>
              <c:pt idx="11">
                <c:v>12.2</c:v>
              </c:pt>
              <c:pt idx="12">
                <c:v>11.2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E7A6-490C-96DB-4EB106DE2A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1"/>
        <c:axId val="222"/>
      </c:lineChart>
      <c:catAx>
        <c:axId val="111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/>
                </a:pPr>
                <a:r>
                  <a:rPr lang="en-US" sz="1400"/>
                  <a:t>trial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130"/>
          <c:min val="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A6749-3C26-4410-9896-B922066BD22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ACEE81-0134-4C87-9EF1-0F5CE8DFFF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85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Show a 60 </a:t>
            </a:r>
            <a:r>
              <a:rPr lang="en-US" sz="1200" dirty="0" err="1"/>
              <a:t>ms</a:t>
            </a:r>
            <a:r>
              <a:rPr lang="en-US" sz="1200" dirty="0"/>
              <a:t> FT stutter. The player shoots and misses.
Maybe they need it bigger. Show 100 </a:t>
            </a:r>
            <a:r>
              <a:rPr lang="en-US" sz="1200" dirty="0" err="1"/>
              <a:t>ms.</a:t>
            </a:r>
            <a:r>
              <a:rPr lang="en-US" sz="1200" dirty="0"/>
              <a:t> They hit.
Show 100 </a:t>
            </a:r>
            <a:r>
              <a:rPr lang="en-US" sz="1200" dirty="0" err="1"/>
              <a:t>ms</a:t>
            </a:r>
            <a:r>
              <a:rPr lang="en-US" sz="1200" dirty="0"/>
              <a:t> again. Hit again. Discard everything above 145 </a:t>
            </a:r>
            <a:r>
              <a:rPr lang="en-US" sz="1200" dirty="0" err="1"/>
              <a:t>ms.</a:t>
            </a:r>
            <a:r>
              <a:rPr lang="en-US" sz="1200" dirty="0"/>
              <a:t>
Ten more questions, each one picked to be the most useful next, and the range closes in on 60 </a:t>
            </a:r>
            <a:r>
              <a:rPr lang="en-US" sz="1200" dirty="0" err="1"/>
              <a:t>ms.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CEE81-0134-4C87-9EF1-0F5CE8DFFF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45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floor of γ, a ceiling of 1 − λ, and a Weibull ramp between them whose midpoint is θ and whose steepness is 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CEE81-0134-4C87-9EF1-0F5CE8DFFF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96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C2410C"/>
                </a:solidFill>
              </a:rPr>
              <a:t>Jargon note: this table of 72 numbers is what the code calls the posterior. Prior = the table before an answer comes in, posterior = the same table after. Nothing more to 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CEE81-0134-4C87-9EF1-0F5CE8DFFF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7851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CEE81-0134-4C87-9EF1-0F5CE8DFFF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55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ACEE81-0134-4C87-9EF1-0F5CE8DFFF5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765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C54A-52C2-FFB4-444B-852E7ADD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52CCD-5B1F-9118-00CC-C83E08338B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9583D-683B-8C4C-D720-18A1F3A92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C6EF3-5BB4-50F3-F8BC-9ED71CF9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F4E69-6488-7320-B82B-31379731E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143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7E4AC-3200-B93C-A626-DFE7F796B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6D6D5B-0967-1B18-9B91-FD44FC28F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32AAF-63E0-F014-7542-38331AD15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20785-F62B-8CCE-4AA4-636FC081B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69254-3960-AEEB-E3D0-25FCC080E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890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00B65-5C6F-B5B0-14A8-651FC15B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1E17A-24D6-0F60-232C-2CC8324AD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C1847-7D78-B11A-E288-0B1AE4F63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7FC502-0ABC-E120-D8ED-557186C9B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FAA81-3C04-C0F4-6663-3C330C4BF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0CE24-C63C-E618-8B86-6E20E8F2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04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CA37F-1C05-B4A9-0850-DED5DCCF3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A7E8D-9FCF-EE61-FFE8-7B3DE1823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9F2616-3ABC-F5FF-D2E2-E24B644AB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F1EA71-C15C-5100-BBB2-FB62B283D5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71BB75-57DA-B735-ABF3-318485003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6B592E-B545-DEA8-5959-29ABE7D6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B192B5-7AFD-ADD6-98CC-D2841B701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F422B4-6C88-05F9-1528-0BDB95BBD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44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2710E-08E8-B60F-E90B-B25BE96EF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313752-DCC6-041F-C92A-E60A905B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E97C4D-E674-029D-6135-320FC538C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498B6-8409-0818-2DCA-09EB7A6A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5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B7A15-945F-92C1-28BF-D639BCC3C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AB740C-3A5C-C7AC-35F4-4D075D85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FBFB7-A55C-D9C1-182E-B174BE6BC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2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4C2F1-F2DB-868A-8144-BCDD051C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02423-4865-1919-94CA-B6B9C0B1C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0D095-09E8-D18B-4F43-4B90B8D74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40D83-9EFF-D3EF-386F-C254F2AE0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C77AD-E6CA-179E-78F9-3B016F62D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1DF33-A7E1-7668-B102-DF1F88D4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057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095D-0F8D-AC62-6995-6385C249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C222AE-33E4-A266-5EF7-5DD2B82BE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6D0C8-8B25-5930-EA1B-F2F9A8A586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156F1A-40B7-3D7A-36F0-D3B98698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286D7-B880-9080-4732-1F83620B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53928-33B9-0D2F-7A68-F51B68F39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432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D0B3-50A8-95B8-FE42-37D0CB58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A2D88-5D54-D78D-4C30-39C7AAB0DC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61E39-BFC2-8387-C09E-8BBFB5E7A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19176-4C67-4F6C-075E-EBF71121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B76F0-4BF8-E3F9-0FD4-FBE814FF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4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E3F56-7785-5B8D-EC64-E81BCE5CDE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3CDB1B-EBE5-725A-8D75-FF5D9D416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285D2-268C-71B7-A5BB-9E610F7B9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DA2FA-6233-27A3-A833-CBA815B8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1DF82-7900-0E82-A247-FAB11A4D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09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EA9DD2-18FD-FA82-5169-EC0B0725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420DB-2D09-EA50-AC8F-28DFDD0DF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1B1EB-C0E8-69BC-B823-C8D347AC78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158B0-A1D8-4E14-AD42-5F8F03F0C999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4EDC-7A46-D532-36A6-9CEA2F1C4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637387-5909-D33B-51B2-EB6D8710F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95C4F5-1FA8-4819-8357-746FE82E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41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6202B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6202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687E7A-C8C2-10B9-367C-BC9DD318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5000"/>
            <a:ext cx="10515600" cy="101600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QUEST+ on FT stutter JND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2D504B-4635-4934-BC2E-79F4E8D995E9}"/>
              </a:ext>
            </a:extLst>
          </p:cNvPr>
          <p:cNvSpPr/>
          <p:nvPr/>
        </p:nvSpPr>
        <p:spPr>
          <a:xfrm>
            <a:off x="5080000" y="3175000"/>
            <a:ext cx="2032000" cy="76200"/>
          </a:xfrm>
          <a:prstGeom prst="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884D922E-05BB-5942-3C4E-70B8E3BBAD70}"/>
              </a:ext>
            </a:extLst>
          </p:cNvPr>
          <p:cNvSpPr txBox="1">
            <a:spLocks/>
          </p:cNvSpPr>
          <p:nvPr/>
        </p:nvSpPr>
        <p:spPr>
          <a:xfrm>
            <a:off x="838200" y="3251200"/>
            <a:ext cx="10515600" cy="101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6202B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/>
              <a:t>Step by step walkthrough as implemented in our UFO JND game</a:t>
            </a:r>
          </a:p>
        </p:txBody>
      </p:sp>
    </p:spTree>
    <p:extLst>
      <p:ext uri="{BB962C8B-B14F-4D97-AF65-F5344CB8AC3E}">
        <p14:creationId xmlns:p14="http://schemas.microsoft.com/office/powerpoint/2010/main" val="210201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21E1C-F8F4-0D10-EF2F-59FEDF2DD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Variables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96A993-2522-4EF3-BE24-DAA9976923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379020"/>
              </p:ext>
            </p:extLst>
          </p:nvPr>
        </p:nvGraphicFramePr>
        <p:xfrm>
          <a:off x="508000" y="1216242"/>
          <a:ext cx="11176000" cy="5082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83140145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2545417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5403784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1118653529"/>
                    </a:ext>
                  </a:extLst>
                </a:gridCol>
              </a:tblGrid>
              <a:tr h="993293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Variable (CSV key)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Current game default (should be changed after pilot study)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This example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What it controls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56342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stimMinMs / stimMaxMs / stimCount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 / 250 / 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20 / 160 / 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The stutter sizes we are allowed to show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89190"/>
                  </a:ext>
                </a:extLst>
              </a:tr>
              <a:tr h="602421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threshMinMs / threshMaxMs / threshCount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 / 250 / 50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10 / 175 / 12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The candidate θ values we guess between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563778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slopeMin / slopeMax / slopeCount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 / 6 / 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2 / 4 /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β, how steep the curve 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4534374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lapseMin / lapseMax / lapseCount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 / 0.06 / 4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0 / 0.06 / 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λ, misses that shouldn’t miss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56973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 dirty="0" err="1"/>
                        <a:t>guessRate</a:t>
                      </a:r>
                      <a:endParaRPr lang="en-US" sz="1400" dirty="0"/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0.05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γ, hits you get by luck at any 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5496596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maxTrials / minTrials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50 / 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12 / 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Trial budget and early-stop floor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438967"/>
                  </a:ext>
                </a:extLst>
              </a:tr>
              <a:tr h="553696"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stopPosteriorSD (stopSD)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F6FB2"/>
                          </a:solidFill>
                        </a:rPr>
                        <a:t>4 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/>
                        <a:t>Stop once SD of the θ posterior drops to this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45936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475790C-42CD-48D5-BC7A-AEE70EC4004A}"/>
              </a:ext>
            </a:extLst>
          </p:cNvPr>
          <p:cNvSpPr/>
          <p:nvPr/>
        </p:nvSpPr>
        <p:spPr>
          <a:xfrm>
            <a:off x="508000" y="5867400"/>
            <a:ext cx="11176000" cy="6604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 dirty="0">
                <a:solidFill>
                  <a:srgbClr val="16202B"/>
                </a:solidFill>
              </a:rPr>
              <a:t>grid size: 12 thresholds x 3 slopes x 2 lapse values = 72 cells.</a:t>
            </a:r>
          </a:p>
        </p:txBody>
      </p:sp>
    </p:spTree>
    <p:extLst>
      <p:ext uri="{BB962C8B-B14F-4D97-AF65-F5344CB8AC3E}">
        <p14:creationId xmlns:p14="http://schemas.microsoft.com/office/powerpoint/2010/main" val="426490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475C8-AE2E-6BEC-5AC1-F0C10D35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QUEST+ EQ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BC1A8D5-BEB5-461E-811A-DE3CA2C4E9D7}"/>
              </a:ext>
            </a:extLst>
          </p:cNvPr>
          <p:cNvSpPr/>
          <p:nvPr/>
        </p:nvSpPr>
        <p:spPr>
          <a:xfrm>
            <a:off x="508000" y="1905000"/>
            <a:ext cx="11176000" cy="965200"/>
          </a:xfrm>
          <a:prstGeom prst="rect">
            <a:avLst/>
          </a:prstGeom>
          <a:solidFill>
            <a:srgbClr val="1620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2600" b="1" dirty="0">
                <a:solidFill>
                  <a:srgbClr val="FFFFFF"/>
                </a:solidFill>
              </a:rPr>
              <a:t>P(notice | x) = </a:t>
            </a:r>
            <a:r>
              <a:rPr lang="el-GR" sz="2600" b="1" dirty="0">
                <a:solidFill>
                  <a:srgbClr val="FFFFFF"/>
                </a:solidFill>
              </a:rPr>
              <a:t>γ + (1 − γ − λ) × (1 − </a:t>
            </a:r>
            <a:r>
              <a:rPr lang="en-US" sz="2600" b="1" dirty="0">
                <a:solidFill>
                  <a:srgbClr val="FFFFFF"/>
                </a:solidFill>
              </a:rPr>
              <a:t>exp(−(x / </a:t>
            </a:r>
            <a:r>
              <a:rPr lang="el-GR" sz="2600" b="1" dirty="0">
                <a:solidFill>
                  <a:srgbClr val="FFFFFF"/>
                </a:solidFill>
              </a:rPr>
              <a:t>θ)^β))</a:t>
            </a:r>
            <a:endParaRPr lang="en-US" sz="2600" b="1" dirty="0">
              <a:solidFill>
                <a:srgbClr val="FFFFFF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314B7E-BF35-4F06-BAB8-CF5FA293B9F8}"/>
              </a:ext>
            </a:extLst>
          </p:cNvPr>
          <p:cNvSpPr/>
          <p:nvPr/>
        </p:nvSpPr>
        <p:spPr>
          <a:xfrm>
            <a:off x="508000" y="3175000"/>
            <a:ext cx="2679700" cy="2159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1BF260-D3D4-4D53-BB37-F812A4E5ACBA}"/>
              </a:ext>
            </a:extLst>
          </p:cNvPr>
          <p:cNvSpPr/>
          <p:nvPr/>
        </p:nvSpPr>
        <p:spPr>
          <a:xfrm>
            <a:off x="508000" y="3175000"/>
            <a:ext cx="2679700" cy="101600"/>
          </a:xfrm>
          <a:prstGeom prst="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87326-0A83-4CE2-879D-DB1C761EB927}"/>
              </a:ext>
            </a:extLst>
          </p:cNvPr>
          <p:cNvSpPr txBox="1"/>
          <p:nvPr/>
        </p:nvSpPr>
        <p:spPr>
          <a:xfrm>
            <a:off x="685800" y="3429000"/>
            <a:ext cx="2324100" cy="8771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1F6FB2"/>
                </a:solidFill>
              </a:rPr>
              <a:t>θ  threshold (ms)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The number we are solving for. 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191AF6-B756-4B06-98D5-F66ACD91FEC0}"/>
              </a:ext>
            </a:extLst>
          </p:cNvPr>
          <p:cNvSpPr/>
          <p:nvPr/>
        </p:nvSpPr>
        <p:spPr>
          <a:xfrm>
            <a:off x="3352800" y="3175000"/>
            <a:ext cx="2679700" cy="2159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80E8E6-3DFA-4E5C-A3E2-F1FF6BF335CA}"/>
              </a:ext>
            </a:extLst>
          </p:cNvPr>
          <p:cNvSpPr/>
          <p:nvPr/>
        </p:nvSpPr>
        <p:spPr>
          <a:xfrm>
            <a:off x="3352800" y="3175000"/>
            <a:ext cx="2679700" cy="101600"/>
          </a:xfrm>
          <a:prstGeom prst="rect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12ABCE-4400-47D4-AEED-A6AE65EB40E2}"/>
              </a:ext>
            </a:extLst>
          </p:cNvPr>
          <p:cNvSpPr txBox="1"/>
          <p:nvPr/>
        </p:nvSpPr>
        <p:spPr>
          <a:xfrm>
            <a:off x="3530600" y="3429000"/>
            <a:ext cx="2324100" cy="13080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F766E"/>
                </a:solidFill>
              </a:rPr>
              <a:t>β  slope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How fast noticing ramps up once you pass θ. Higher β means a sharper switch from missing to noticing.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D86383-E242-4674-BFAE-07E2B612661A}"/>
              </a:ext>
            </a:extLst>
          </p:cNvPr>
          <p:cNvSpPr/>
          <p:nvPr/>
        </p:nvSpPr>
        <p:spPr>
          <a:xfrm>
            <a:off x="6197600" y="3175000"/>
            <a:ext cx="2679700" cy="2159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99820C-108A-4DDC-8A35-7E8EA68F497C}"/>
              </a:ext>
            </a:extLst>
          </p:cNvPr>
          <p:cNvSpPr/>
          <p:nvPr/>
        </p:nvSpPr>
        <p:spPr>
          <a:xfrm>
            <a:off x="6197600" y="3175000"/>
            <a:ext cx="2679700" cy="101600"/>
          </a:xfrm>
          <a:prstGeom prst="rect">
            <a:avLst/>
          </a:prstGeom>
          <a:solidFill>
            <a:srgbClr val="B4530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9967BA-2C4A-4E1D-9DB3-384E77E5F5CA}"/>
              </a:ext>
            </a:extLst>
          </p:cNvPr>
          <p:cNvSpPr txBox="1"/>
          <p:nvPr/>
        </p:nvSpPr>
        <p:spPr>
          <a:xfrm>
            <a:off x="6375400" y="3429000"/>
            <a:ext cx="2324100" cy="8771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B45309"/>
                </a:solidFill>
              </a:rPr>
              <a:t>γ  guess rate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Hits you land with no help from the stutter.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84AB113-2BA3-4D09-8BDD-AC69A361DA89}"/>
              </a:ext>
            </a:extLst>
          </p:cNvPr>
          <p:cNvSpPr/>
          <p:nvPr/>
        </p:nvSpPr>
        <p:spPr>
          <a:xfrm>
            <a:off x="9042400" y="3175000"/>
            <a:ext cx="2679700" cy="2159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AC4B7D-A40C-462E-A387-FD7EA5A3FB5A}"/>
              </a:ext>
            </a:extLst>
          </p:cNvPr>
          <p:cNvSpPr/>
          <p:nvPr/>
        </p:nvSpPr>
        <p:spPr>
          <a:xfrm>
            <a:off x="9042400" y="3175000"/>
            <a:ext cx="2679700" cy="101600"/>
          </a:xfrm>
          <a:prstGeom prst="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871919-0544-46EF-AB63-3701FE39B413}"/>
              </a:ext>
            </a:extLst>
          </p:cNvPr>
          <p:cNvSpPr txBox="1"/>
          <p:nvPr/>
        </p:nvSpPr>
        <p:spPr>
          <a:xfrm>
            <a:off x="9220200" y="3429000"/>
            <a:ext cx="2324100" cy="130805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C2410C"/>
                </a:solidFill>
              </a:rPr>
              <a:t>λ  lapse rate</a:t>
            </a:r>
          </a:p>
          <a:p>
            <a:pPr>
              <a:spcBef>
                <a:spcPts val="6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Misses at huge stutter sizes for loss of attention. Caps the curve at 1 − λ instead of 1. 2 candidates.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9192F4-D52E-4364-9856-C2CEA9A75C10}"/>
              </a:ext>
            </a:extLst>
          </p:cNvPr>
          <p:cNvSpPr txBox="1"/>
          <p:nvPr/>
        </p:nvSpPr>
        <p:spPr>
          <a:xfrm>
            <a:off x="508000" y="5588000"/>
            <a:ext cx="11176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/>
              <a:t>Hit uses this eq. Miss uses 1 − eq.
There is only one equation, and a miss is whatever chance is left over. At 60 </a:t>
            </a:r>
            <a:r>
              <a:rPr lang="en-US" sz="1500" dirty="0" err="1"/>
              <a:t>ms</a:t>
            </a:r>
            <a:r>
              <a:rPr lang="en-US" sz="1500" dirty="0"/>
              <a:t> with θ = 60, β = 3, γ = 0.05, λ = 0: hit = 0.650, miss = 0.350.</a:t>
            </a:r>
          </a:p>
        </p:txBody>
      </p:sp>
    </p:spTree>
    <p:extLst>
      <p:ext uri="{BB962C8B-B14F-4D97-AF65-F5344CB8AC3E}">
        <p14:creationId xmlns:p14="http://schemas.microsoft.com/office/powerpoint/2010/main" val="14432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FE8F-686B-8749-03EC-5287FA04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Stim, </a:t>
            </a:r>
            <a:r>
              <a:rPr lang="en-US" sz="3200" b="1" dirty="0" err="1"/>
              <a:t>thres</a:t>
            </a:r>
            <a:r>
              <a:rPr lang="en-US" sz="3200" b="1" dirty="0"/>
              <a:t>, slope and lapse array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F4E184-6A21-4EEC-90AB-AE95F96A3A82}"/>
              </a:ext>
            </a:extLst>
          </p:cNvPr>
          <p:cNvSpPr txBox="1"/>
          <p:nvPr/>
        </p:nvSpPr>
        <p:spPr>
          <a:xfrm>
            <a:off x="508000" y="19050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/>
              <a:t>stimGrid (8)
what we can show, ms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DF1D6E0-AB29-4A83-AFDD-91973E74CC99}"/>
              </a:ext>
            </a:extLst>
          </p:cNvPr>
          <p:cNvSpPr/>
          <p:nvPr/>
        </p:nvSpPr>
        <p:spPr>
          <a:xfrm>
            <a:off x="28194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20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14AEDD1-B751-492E-818A-E015B9225FF9}"/>
              </a:ext>
            </a:extLst>
          </p:cNvPr>
          <p:cNvSpPr/>
          <p:nvPr/>
        </p:nvSpPr>
        <p:spPr>
          <a:xfrm>
            <a:off x="38608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932C315-22B4-4F19-96B5-007174363F8D}"/>
              </a:ext>
            </a:extLst>
          </p:cNvPr>
          <p:cNvSpPr/>
          <p:nvPr/>
        </p:nvSpPr>
        <p:spPr>
          <a:xfrm>
            <a:off x="49022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60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5B30A4-1EF4-4AA5-A499-E0ABA145ABE2}"/>
              </a:ext>
            </a:extLst>
          </p:cNvPr>
          <p:cNvSpPr/>
          <p:nvPr/>
        </p:nvSpPr>
        <p:spPr>
          <a:xfrm>
            <a:off x="59436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80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E53F2FC-C6BE-4244-9509-4AE58CF119E9}"/>
              </a:ext>
            </a:extLst>
          </p:cNvPr>
          <p:cNvSpPr/>
          <p:nvPr/>
        </p:nvSpPr>
        <p:spPr>
          <a:xfrm>
            <a:off x="69850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100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F6EC949-EE08-4530-ADE2-1221DFAA1C51}"/>
              </a:ext>
            </a:extLst>
          </p:cNvPr>
          <p:cNvSpPr/>
          <p:nvPr/>
        </p:nvSpPr>
        <p:spPr>
          <a:xfrm>
            <a:off x="80264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120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15AAFB-2F41-4FDF-85AA-337665AC5B0E}"/>
              </a:ext>
            </a:extLst>
          </p:cNvPr>
          <p:cNvSpPr/>
          <p:nvPr/>
        </p:nvSpPr>
        <p:spPr>
          <a:xfrm>
            <a:off x="90678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140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47D8733-F7FA-4E06-9417-9356D5A89220}"/>
              </a:ext>
            </a:extLst>
          </p:cNvPr>
          <p:cNvSpPr/>
          <p:nvPr/>
        </p:nvSpPr>
        <p:spPr>
          <a:xfrm>
            <a:off x="10109200" y="1905000"/>
            <a:ext cx="939800" cy="482600"/>
          </a:xfrm>
          <a:prstGeom prst="roundRect">
            <a:avLst/>
          </a:prstGeom>
          <a:solidFill>
            <a:srgbClr val="1F6FB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160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E3D025-560E-4C88-8CA3-28EDF80156A6}"/>
              </a:ext>
            </a:extLst>
          </p:cNvPr>
          <p:cNvSpPr txBox="1"/>
          <p:nvPr/>
        </p:nvSpPr>
        <p:spPr>
          <a:xfrm>
            <a:off x="508000" y="28956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/>
              <a:t>threshGrid (12)
what we guess, 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4FA0019-3C2D-415A-9919-C09333DCC81F}"/>
              </a:ext>
            </a:extLst>
          </p:cNvPr>
          <p:cNvSpPr/>
          <p:nvPr/>
        </p:nvSpPr>
        <p:spPr>
          <a:xfrm>
            <a:off x="28194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10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A5678A-BF0E-445C-99B7-89D6D1C2A5D1}"/>
              </a:ext>
            </a:extLst>
          </p:cNvPr>
          <p:cNvSpPr/>
          <p:nvPr/>
        </p:nvSpPr>
        <p:spPr>
          <a:xfrm>
            <a:off x="35433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25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9824F9-D459-4800-BF82-48FFCAEB182E}"/>
              </a:ext>
            </a:extLst>
          </p:cNvPr>
          <p:cNvSpPr/>
          <p:nvPr/>
        </p:nvSpPr>
        <p:spPr>
          <a:xfrm>
            <a:off x="42672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40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C65CD5C-1D82-413F-B0CD-49100E0A6086}"/>
              </a:ext>
            </a:extLst>
          </p:cNvPr>
          <p:cNvSpPr/>
          <p:nvPr/>
        </p:nvSpPr>
        <p:spPr>
          <a:xfrm>
            <a:off x="49911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55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FAF7925-87DD-405C-A6B3-6F7D9EAA1D33}"/>
              </a:ext>
            </a:extLst>
          </p:cNvPr>
          <p:cNvSpPr/>
          <p:nvPr/>
        </p:nvSpPr>
        <p:spPr>
          <a:xfrm>
            <a:off x="57150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70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2FA767E-6A11-4CD1-8228-84DD0A89FEB0}"/>
              </a:ext>
            </a:extLst>
          </p:cNvPr>
          <p:cNvSpPr/>
          <p:nvPr/>
        </p:nvSpPr>
        <p:spPr>
          <a:xfrm>
            <a:off x="64389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85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E571B80-9844-4FF3-8652-848DD8AA0640}"/>
              </a:ext>
            </a:extLst>
          </p:cNvPr>
          <p:cNvSpPr/>
          <p:nvPr/>
        </p:nvSpPr>
        <p:spPr>
          <a:xfrm>
            <a:off x="71628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100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FCBE615-44E8-4E0F-B0CC-98969923C7D7}"/>
              </a:ext>
            </a:extLst>
          </p:cNvPr>
          <p:cNvSpPr/>
          <p:nvPr/>
        </p:nvSpPr>
        <p:spPr>
          <a:xfrm>
            <a:off x="78867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115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869AB0-5AAC-4CA6-96F0-B6215255C610}"/>
              </a:ext>
            </a:extLst>
          </p:cNvPr>
          <p:cNvSpPr/>
          <p:nvPr/>
        </p:nvSpPr>
        <p:spPr>
          <a:xfrm>
            <a:off x="86106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130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A6BBDC-9533-4662-895B-4CF886D9129F}"/>
              </a:ext>
            </a:extLst>
          </p:cNvPr>
          <p:cNvSpPr/>
          <p:nvPr/>
        </p:nvSpPr>
        <p:spPr>
          <a:xfrm>
            <a:off x="93345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145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79508E6-A971-4A12-8B21-32C2EEECE488}"/>
              </a:ext>
            </a:extLst>
          </p:cNvPr>
          <p:cNvSpPr/>
          <p:nvPr/>
        </p:nvSpPr>
        <p:spPr>
          <a:xfrm>
            <a:off x="100584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160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35DE2EC-B61C-463A-A9E0-EA0900BFDE27}"/>
              </a:ext>
            </a:extLst>
          </p:cNvPr>
          <p:cNvSpPr/>
          <p:nvPr/>
        </p:nvSpPr>
        <p:spPr>
          <a:xfrm>
            <a:off x="10782300" y="2895600"/>
            <a:ext cx="635000" cy="482600"/>
          </a:xfrm>
          <a:prstGeom prst="roundRect">
            <a:avLst/>
          </a:prstGeom>
          <a:solidFill>
            <a:srgbClr val="DCE9F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16202B"/>
                </a:solidFill>
              </a:rPr>
              <a:t>175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B1706C6-7817-4297-B85E-514429AEBC36}"/>
              </a:ext>
            </a:extLst>
          </p:cNvPr>
          <p:cNvSpPr txBox="1"/>
          <p:nvPr/>
        </p:nvSpPr>
        <p:spPr>
          <a:xfrm>
            <a:off x="508000" y="38862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/>
              <a:t>slopeGrid (3)
</a:t>
            </a:r>
            <a:r>
              <a:rPr lang="el-GR" sz="1400"/>
              <a:t>β </a:t>
            </a:r>
            <a:r>
              <a:rPr lang="en-US" sz="1400"/>
              <a:t>candidates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652B49D-C8C9-48D1-85FB-7FF600839E9A}"/>
              </a:ext>
            </a:extLst>
          </p:cNvPr>
          <p:cNvSpPr/>
          <p:nvPr/>
        </p:nvSpPr>
        <p:spPr>
          <a:xfrm>
            <a:off x="2819400" y="3886200"/>
            <a:ext cx="939800" cy="482600"/>
          </a:xfrm>
          <a:prstGeom prst="roundRect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53C1500-AFF7-4F10-9325-920BD7944EED}"/>
              </a:ext>
            </a:extLst>
          </p:cNvPr>
          <p:cNvSpPr/>
          <p:nvPr/>
        </p:nvSpPr>
        <p:spPr>
          <a:xfrm>
            <a:off x="3860800" y="3886200"/>
            <a:ext cx="939800" cy="482600"/>
          </a:xfrm>
          <a:prstGeom prst="roundRect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D998E53B-DCE5-4335-90E9-A4005632F8DD}"/>
              </a:ext>
            </a:extLst>
          </p:cNvPr>
          <p:cNvSpPr/>
          <p:nvPr/>
        </p:nvSpPr>
        <p:spPr>
          <a:xfrm>
            <a:off x="4902200" y="3886200"/>
            <a:ext cx="939800" cy="482600"/>
          </a:xfrm>
          <a:prstGeom prst="roundRect">
            <a:avLst/>
          </a:prstGeom>
          <a:solidFill>
            <a:srgbClr val="0F766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93EFDA-0622-49D4-8312-76524E6F9A9B}"/>
              </a:ext>
            </a:extLst>
          </p:cNvPr>
          <p:cNvSpPr txBox="1"/>
          <p:nvPr/>
        </p:nvSpPr>
        <p:spPr>
          <a:xfrm>
            <a:off x="508000" y="4876800"/>
            <a:ext cx="215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/>
              <a:t>lapseGrid (2)
</a:t>
            </a:r>
            <a:r>
              <a:rPr lang="el-GR" sz="1400"/>
              <a:t>λ </a:t>
            </a:r>
            <a:r>
              <a:rPr lang="en-US" sz="1400"/>
              <a:t>candidates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0DA46D-90DA-4CC6-8459-CC6EC74CC845}"/>
              </a:ext>
            </a:extLst>
          </p:cNvPr>
          <p:cNvSpPr/>
          <p:nvPr/>
        </p:nvSpPr>
        <p:spPr>
          <a:xfrm>
            <a:off x="2819400" y="4876800"/>
            <a:ext cx="939800" cy="482600"/>
          </a:xfrm>
          <a:prstGeom prst="round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0.00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8AD6F49-3295-4C47-9E5E-8B0CDD2BB637}"/>
              </a:ext>
            </a:extLst>
          </p:cNvPr>
          <p:cNvSpPr/>
          <p:nvPr/>
        </p:nvSpPr>
        <p:spPr>
          <a:xfrm>
            <a:off x="3860800" y="4876800"/>
            <a:ext cx="939800" cy="482600"/>
          </a:xfrm>
          <a:prstGeom prst="roundRect">
            <a:avLst/>
          </a:prstGeom>
          <a:solidFill>
            <a:srgbClr val="C2410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400" b="1">
                <a:solidFill>
                  <a:srgbClr val="FFFFFF"/>
                </a:solidFill>
              </a:rPr>
              <a:t>0.06</a:t>
            </a:r>
          </a:p>
        </p:txBody>
      </p:sp>
    </p:spTree>
    <p:extLst>
      <p:ext uri="{BB962C8B-B14F-4D97-AF65-F5344CB8AC3E}">
        <p14:creationId xmlns:p14="http://schemas.microsoft.com/office/powerpoint/2010/main" val="784713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78795-2040-E57D-11BD-F82664BC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Why the table has 72 cells, not 12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756D1E-81C5-4E93-B80A-FBE818FE8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915582"/>
              </p:ext>
            </p:extLst>
          </p:nvPr>
        </p:nvGraphicFramePr>
        <p:xfrm>
          <a:off x="508000" y="1841500"/>
          <a:ext cx="5740400" cy="4162474"/>
        </p:xfrm>
        <a:graphic>
          <a:graphicData uri="http://schemas.openxmlformats.org/drawingml/2006/table">
            <a:tbl>
              <a:tblPr/>
              <a:tblGrid>
                <a:gridCol w="939800">
                  <a:extLst>
                    <a:ext uri="{9D8B030D-6E8A-4147-A177-3AD203B41FA5}">
                      <a16:colId xmlns:a16="http://schemas.microsoft.com/office/drawing/2014/main" val="98000203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11284399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65382523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99491724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4197414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357982259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75975674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  \  β / λ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2 / 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2 / .06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3 / 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3 / .06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4 / 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4 / .06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37325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2888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25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80893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40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81673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55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16202B"/>
                          </a:solidFill>
                        </a:rPr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688096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70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83160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85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45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100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60574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115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65037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130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740305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145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4989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160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56403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175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0.0139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57423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B0A2F8E-C7B5-415C-ADE8-7D1B97BE0981}"/>
              </a:ext>
            </a:extLst>
          </p:cNvPr>
          <p:cNvSpPr txBox="1"/>
          <p:nvPr/>
        </p:nvSpPr>
        <p:spPr>
          <a:xfrm>
            <a:off x="6502400" y="1905000"/>
            <a:ext cx="51816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6FB2"/>
                </a:solidFill>
              </a:rPr>
              <a:t>Probability is same for all cases at the start</a:t>
            </a:r>
          </a:p>
          <a:p>
            <a:pPr>
              <a:spcBef>
                <a:spcPts val="500"/>
              </a:spcBef>
              <a:buNone/>
            </a:pPr>
            <a:r>
              <a:rPr lang="en-US" sz="1600" dirty="0"/>
              <a:t>Threshold, slope and lapse rate together. 12 × 3 × 2 = 72 guesses, each worth 1/72.</a:t>
            </a:r>
          </a:p>
          <a:p>
            <a:pPr>
              <a:spcBef>
                <a:spcPts val="500"/>
              </a:spcBef>
              <a:buNone/>
            </a:pPr>
            <a:r>
              <a:rPr lang="en-US" sz="1600" dirty="0"/>
              <a:t>The blue row: 55 </a:t>
            </a:r>
            <a:r>
              <a:rPr lang="en-US" sz="1600" dirty="0" err="1"/>
              <a:t>ms</a:t>
            </a:r>
            <a:r>
              <a:rPr lang="en-US" sz="1600" dirty="0"/>
              <a:t> has 6 cells because 3x2</a:t>
            </a:r>
          </a:p>
        </p:txBody>
      </p:sp>
    </p:spTree>
    <p:extLst>
      <p:ext uri="{BB962C8B-B14F-4D97-AF65-F5344CB8AC3E}">
        <p14:creationId xmlns:p14="http://schemas.microsoft.com/office/powerpoint/2010/main" val="3429037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D4FF0-C456-BF17-4562-37D2C945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Where SD comes from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4CBA4-C87D-46A0-A7AE-8CF400CDA545}"/>
              </a:ext>
            </a:extLst>
          </p:cNvPr>
          <p:cNvSpPr txBox="1"/>
          <p:nvPr/>
        </p:nvSpPr>
        <p:spPr>
          <a:xfrm>
            <a:off x="508000" y="1879600"/>
            <a:ext cx="5461000" cy="3937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US" sz="1600" dirty="0"/>
              <a:t>1.  Every cell starts equal:  1 / 72 = 0.0139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600" dirty="0"/>
              <a:t>2.  Add the 6 cells behind each θ:</a:t>
            </a:r>
          </a:p>
          <a:p>
            <a:pPr marL="228600" indent="0" algn="l">
              <a:buNone/>
            </a:pPr>
            <a:r>
              <a:rPr lang="en-US" sz="1600" dirty="0"/>
              <a:t>w = 6 × 0.0139 = 0.0833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600" dirty="0"/>
              <a:t>3.  Mean:  μ = Σ (w × θ)</a:t>
            </a:r>
          </a:p>
          <a:p>
            <a:pPr marL="228600" indent="0" algn="l">
              <a:buNone/>
            </a:pPr>
            <a:r>
              <a:rPr lang="en-US" sz="1500" dirty="0"/>
              <a:t>= (0.0833 × 10) + (0.0833 × 25) + … + (0.0833 × 175)</a:t>
            </a:r>
          </a:p>
          <a:p>
            <a:pPr marL="228600" indent="0" algn="l">
              <a:buNone/>
            </a:pPr>
            <a:r>
              <a:rPr lang="en-US" sz="1500" dirty="0"/>
              <a:t>= 0.0833 × 1110 = 92.5 </a:t>
            </a:r>
            <a:r>
              <a:rPr lang="en-US" sz="1500" dirty="0" err="1"/>
              <a:t>ms</a:t>
            </a:r>
            <a:r>
              <a:rPr lang="en-US" sz="1500" dirty="0"/>
              <a:t> (later denoted as </a:t>
            </a:r>
            <a:r>
              <a:rPr lang="el-GR" sz="1500" dirty="0"/>
              <a:t>θ̂ </a:t>
            </a:r>
            <a:r>
              <a:rPr lang="en-US" sz="1500" dirty="0"/>
              <a:t>)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600" dirty="0"/>
              <a:t>4.  Variance:  Σ (w × (θ − μ)²) = 2681.3</a:t>
            </a:r>
          </a:p>
          <a:p>
            <a:pPr marL="228600" indent="0" algn="l">
              <a:buNone/>
            </a:pPr>
            <a:r>
              <a:rPr lang="en-US" sz="1600" dirty="0"/>
              <a:t>SD = √2681.3 = 51.8 </a:t>
            </a:r>
            <a:r>
              <a:rPr lang="en-US" sz="1600" dirty="0" err="1"/>
              <a:t>ms</a:t>
            </a:r>
            <a:endParaRPr 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D00604-9B69-4D09-A209-D6AC7022A6CC}"/>
              </a:ext>
            </a:extLst>
          </p:cNvPr>
          <p:cNvGraphicFramePr>
            <a:graphicFrameLocks noGrp="1"/>
          </p:cNvGraphicFramePr>
          <p:nvPr/>
        </p:nvGraphicFramePr>
        <p:xfrm>
          <a:off x="6223000" y="1841500"/>
          <a:ext cx="5461000" cy="4003048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384183025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39126173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41276602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66023553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 (ms)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(θ − μ)²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 × (θ − μ)²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1380709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6806.3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567.2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79606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4556.3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379.7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5117511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2756.3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229.7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1426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1406.3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117.2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91230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42.2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93986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798660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969633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42.2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79101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1406.3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117.2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774435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2756.3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229.7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555532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4556.3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379.7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764877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175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0.0833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6806.3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567.2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09748"/>
                  </a:ext>
                </a:extLst>
              </a:tr>
              <a:tr h="2794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sum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1.000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32175.0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2681.3</a:t>
                      </a:r>
                    </a:p>
                  </a:txBody>
                  <a:tcPr marT="36286" marB="36286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96115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17FB876-2563-4BAB-83FC-7050F56B8D00}"/>
              </a:ext>
            </a:extLst>
          </p:cNvPr>
          <p:cNvSpPr txBox="1"/>
          <p:nvPr/>
        </p:nvSpPr>
        <p:spPr>
          <a:xfrm>
            <a:off x="508000" y="5867400"/>
            <a:ext cx="111760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Slope calculation is similar:  </a:t>
            </a:r>
            <a:r>
              <a:rPr lang="en-US" sz="1400" dirty="0">
                <a:solidFill>
                  <a:srgbClr val="0F766E"/>
                </a:solidFill>
              </a:rPr>
              <a:t>β̂ = Σ (weight × β), 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β = 2 holds 0.274: </a:t>
            </a:r>
            <a:r>
              <a:rPr lang="en-US" sz="1400" dirty="0">
                <a:solidFill>
                  <a:srgbClr val="0F766E"/>
                </a:solidFill>
              </a:rPr>
              <a:t>take all 24 cells that use β = 2 (12 thresholds × 2 lapse values) and add their weights. One number per slope, three in total: so for 2 = 0.274, for 3= 0.342,  and for 4 = 0.385.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0F766E"/>
                </a:solidFill>
              </a:rPr>
              <a:t>β̂ = (2 × 0.274) + (3 × 0.342) + (4 × 0.385) = 3.11</a:t>
            </a:r>
          </a:p>
        </p:txBody>
      </p:sp>
    </p:spTree>
    <p:extLst>
      <p:ext uri="{BB962C8B-B14F-4D97-AF65-F5344CB8AC3E}">
        <p14:creationId xmlns:p14="http://schemas.microsoft.com/office/powerpoint/2010/main" val="206596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AA8FD-12AC-750C-D48D-75F9F7372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Scoring one stutter size, on 4 cells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D1404F-193B-403A-BCBE-B27CBE02F2AE}"/>
              </a:ext>
            </a:extLst>
          </p:cNvPr>
          <p:cNvSpPr txBox="1"/>
          <p:nvPr/>
        </p:nvSpPr>
        <p:spPr>
          <a:xfrm>
            <a:off x="508000" y="1879600"/>
            <a:ext cx="5080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500"/>
              </a:spcBef>
              <a:buNone/>
            </a:pPr>
            <a:r>
              <a:rPr lang="en-US" sz="1800" b="1" dirty="0">
                <a:solidFill>
                  <a:srgbClr val="1F6FB2"/>
                </a:solidFill>
              </a:rPr>
              <a:t>H = how spread out the belief is (entropy)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600" dirty="0"/>
              <a:t>All 4 cells equal: H is at its biggest. 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600" dirty="0"/>
              <a:t>One cell certain: H = 0.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1600" dirty="0">
                <a:solidFill>
                  <a:srgbClr val="C2410C"/>
                </a:solidFill>
              </a:rPr>
              <a:t>(only 4 cells are shown for simplicity)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FB33B-715D-492E-BD86-CE0ADE92E2C0}"/>
              </a:ext>
            </a:extLst>
          </p:cNvPr>
          <p:cNvSpPr txBox="1"/>
          <p:nvPr/>
        </p:nvSpPr>
        <p:spPr>
          <a:xfrm>
            <a:off x="5969000" y="18415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766E"/>
                </a:solidFill>
              </a:rPr>
              <a:t>If the player HITS at 60 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599A96-171F-4601-898C-561CE82C7EA7}"/>
              </a:ext>
            </a:extLst>
          </p:cNvPr>
          <p:cNvGraphicFramePr>
            <a:graphicFrameLocks noGrp="1"/>
          </p:cNvGraphicFramePr>
          <p:nvPr/>
        </p:nvGraphicFramePr>
        <p:xfrm>
          <a:off x="5969000" y="2171700"/>
          <a:ext cx="5715000" cy="207772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2020084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230805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44896614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8950610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368141355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26615822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prior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chance after hit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prior × chance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−q ln q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90900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0.967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0.2419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0.444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0.360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71947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0.741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0.1852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0.340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0.367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440045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0.332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0.0829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0.152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0.287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42158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130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0.139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0.0347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0.064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0.176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52006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sum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1.00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0.545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1.000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 = 1.189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9649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05F1548-C78C-4464-8D77-028734E52E63}"/>
              </a:ext>
            </a:extLst>
          </p:cNvPr>
          <p:cNvSpPr txBox="1"/>
          <p:nvPr/>
        </p:nvSpPr>
        <p:spPr>
          <a:xfrm>
            <a:off x="5969000" y="43180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C2410C"/>
                </a:solidFill>
              </a:rPr>
              <a:t>If the player MISSES at 60 ms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639708D-15FE-4CC1-9ACE-489CDD7CDDA4}"/>
              </a:ext>
            </a:extLst>
          </p:cNvPr>
          <p:cNvGraphicFramePr>
            <a:graphicFrameLocks noGrp="1"/>
          </p:cNvGraphicFramePr>
          <p:nvPr/>
        </p:nvGraphicFramePr>
        <p:xfrm>
          <a:off x="5969000" y="4622800"/>
          <a:ext cx="5715000" cy="2077720"/>
        </p:xfrm>
        <a:graphic>
          <a:graphicData uri="http://schemas.openxmlformats.org/drawingml/2006/table">
            <a:tbl>
              <a:tblPr/>
              <a:tblGrid>
                <a:gridCol w="635000">
                  <a:extLst>
                    <a:ext uri="{9D8B030D-6E8A-4147-A177-3AD203B41FA5}">
                      <a16:colId xmlns:a16="http://schemas.microsoft.com/office/drawing/2014/main" val="3457925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5157085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523102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52229931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130002617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122002806"/>
                    </a:ext>
                  </a:extLst>
                </a:gridCol>
              </a:tblGrid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prior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chance after miss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prior × chance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−q ln q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29445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0.033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0.0081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0.018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0.072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45052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0.259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0.0648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0.142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0.278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58217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0.668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0.1671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0.367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0.368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7449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130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0.861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0.2153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0.473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0.354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51213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sum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1.00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1"/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0.455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1.000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H = 1.071</a:t>
                      </a:r>
                    </a:p>
                  </a:txBody>
                  <a:tcPr marT="31750" marB="31750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943596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079138-69AC-4B3E-84F2-6AB964C385DC}"/>
              </a:ext>
            </a:extLst>
          </p:cNvPr>
          <p:cNvSpPr/>
          <p:nvPr/>
        </p:nvSpPr>
        <p:spPr>
          <a:xfrm>
            <a:off x="508000" y="3378200"/>
            <a:ext cx="5384800" cy="30988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spcBef>
                <a:spcPts val="250"/>
              </a:spcBef>
              <a:buNone/>
            </a:pPr>
            <a:r>
              <a:rPr lang="en-US" sz="1600" b="1" dirty="0">
                <a:solidFill>
                  <a:srgbClr val="1F6FB2"/>
                </a:solidFill>
              </a:rPr>
              <a:t>H = − Σ q ln q,  added down the last column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500" dirty="0">
                <a:solidFill>
                  <a:srgbClr val="16202B"/>
                </a:solidFill>
              </a:rPr>
              <a:t>Hit table:  0.360 + 0.367 + 0.287 + 0.176 = 1.189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500" b="1" dirty="0">
                <a:solidFill>
                  <a:srgbClr val="16202B"/>
                </a:solidFill>
              </a:rPr>
              <a:t>Where 0.967 comes from: HIT table, top row (θ = 40) QUEST+ EQ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0.05 + 0.95 × (1 − exp(−(60 / 40)³)) = 0.967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prior × chance = 0.25 × 0.967 = 0.2419,   q = 0.2419 / 0.545 = 0.444</a:t>
            </a:r>
          </a:p>
          <a:p>
            <a:pPr algn="l">
              <a:spcBef>
                <a:spcPts val="250"/>
              </a:spcBef>
              <a:buNone/>
            </a:pPr>
            <a:r>
              <a:rPr lang="en-US" sz="1400" dirty="0">
                <a:solidFill>
                  <a:srgbClr val="C2410C"/>
                </a:solidFill>
              </a:rPr>
              <a:t>MISS table uses 1 − chance:  1 − 0.967 = 0.033</a:t>
            </a:r>
          </a:p>
        </p:txBody>
      </p:sp>
    </p:spTree>
    <p:extLst>
      <p:ext uri="{BB962C8B-B14F-4D97-AF65-F5344CB8AC3E}">
        <p14:creationId xmlns:p14="http://schemas.microsoft.com/office/powerpoint/2010/main" val="174296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980B-289B-6905-8B49-2ED4CD213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Picking trial 1: the stim that teaches us most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59A7B2-9EC8-4214-BEE5-65E4908DB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3145237"/>
              </p:ext>
            </p:extLst>
          </p:nvPr>
        </p:nvGraphicFramePr>
        <p:xfrm>
          <a:off x="508000" y="1452880"/>
          <a:ext cx="6604000" cy="337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613058505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982362407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128490779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27277565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464779643"/>
                    </a:ext>
                  </a:extLst>
                </a:gridCol>
              </a:tblGrid>
              <a:tr h="51168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stim (</a:t>
                      </a:r>
                      <a:r>
                        <a:rPr lang="en-US" sz="1400" b="1" dirty="0" err="1">
                          <a:solidFill>
                            <a:srgbClr val="FFFFFF"/>
                          </a:solidFill>
                        </a:rPr>
                        <a:t>ms</a:t>
                      </a: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chance of hit (QUEST + EQ)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H if hit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 if miss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score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35392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0.181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3.626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4.195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01775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0.317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3.810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4.105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4.011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3783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60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/>
                        <a:t>0.442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3.970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4.011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/>
                        <a:t>3.993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610953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0.556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4.084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3.919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4.011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64746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0.656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4.162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3.832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36592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0.741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4.213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3.758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4.095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0471273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0.811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4.244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3.705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4.142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63730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0.865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4.261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3.679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4.182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651027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5707AA-2CFE-4DBB-B6E3-D09373BD2E09}"/>
              </a:ext>
            </a:extLst>
          </p:cNvPr>
          <p:cNvSpPr txBox="1"/>
          <p:nvPr/>
        </p:nvSpPr>
        <p:spPr>
          <a:xfrm>
            <a:off x="7429500" y="1841500"/>
            <a:ext cx="4254500" cy="35214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1700" b="1" dirty="0">
                <a:solidFill>
                  <a:srgbClr val="1F6FB2"/>
                </a:solidFill>
              </a:rPr>
              <a:t>Same maths, all 72 cells</a:t>
            </a:r>
          </a:p>
          <a:p>
            <a:pPr>
              <a:spcBef>
                <a:spcPts val="500"/>
              </a:spcBef>
              <a:buNone/>
            </a:pPr>
            <a:r>
              <a:rPr lang="en-US" sz="1500" dirty="0"/>
              <a:t>We start at H = 4.277, as spread out as 72 equal cells can be. For each of the 8 sizes: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/>
              <a:t>chance of hit: average what all 72 cells predict for that size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/>
              <a:t>H if hit: reweight all 72 cells as if it were a hit, then measure the spread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dirty="0"/>
              <a:t>H if miss: the same for a miss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500" b="1" dirty="0">
                <a:solidFill>
                  <a:srgbClr val="FF0000"/>
                </a:solidFill>
              </a:rPr>
              <a:t>score = chance of hit × H(hit) + chance of miss × H(miss)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endParaRPr lang="en-US" sz="1500" dirty="0"/>
          </a:p>
          <a:p>
            <a:pPr>
              <a:spcBef>
                <a:spcPts val="600"/>
              </a:spcBef>
              <a:buNone/>
            </a:pPr>
            <a:r>
              <a:rPr lang="en-US" sz="1500" b="1" dirty="0"/>
              <a:t>Why 60: if hit, or miss, the entropy is the lowest, so it will remove the variance most.</a:t>
            </a:r>
            <a:endParaRPr lang="en-US" sz="150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7548C6E-8306-4FCD-A8C0-79BEAC6A56F0}"/>
              </a:ext>
            </a:extLst>
          </p:cNvPr>
          <p:cNvSpPr/>
          <p:nvPr/>
        </p:nvSpPr>
        <p:spPr>
          <a:xfrm>
            <a:off x="508000" y="4826000"/>
            <a:ext cx="6604000" cy="1778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500" b="1" dirty="0">
                <a:solidFill>
                  <a:srgbClr val="16202B"/>
                </a:solidFill>
              </a:rPr>
              <a:t>Every cell predicts with the slide 5 formula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500" dirty="0">
                <a:solidFill>
                  <a:srgbClr val="16202B"/>
                </a:solidFill>
              </a:rPr>
              <a:t>chance = 0.05 + 0.95 × (1 − exp(−(size / θ)^β))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θ = 40, β = 3:   20 ms → 0.162,   60 ms → 0.967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θ = 130, β = 3:   20 ms → 0.053,   60 ms → 0.139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dirty="0">
                <a:solidFill>
                  <a:srgbClr val="C2410C"/>
                </a:solidFill>
              </a:rPr>
              <a:t>Average all 72 that way:  0.181 at 20 ms,  0.442 at 60 </a:t>
            </a:r>
            <a:r>
              <a:rPr lang="en-US" sz="1400" dirty="0" err="1">
                <a:solidFill>
                  <a:srgbClr val="C2410C"/>
                </a:solidFill>
              </a:rPr>
              <a:t>ms</a:t>
            </a:r>
            <a:r>
              <a:rPr lang="en-US" sz="1400" dirty="0">
                <a:solidFill>
                  <a:srgbClr val="C2410C"/>
                </a:solidFill>
              </a:rPr>
              <a:t>…...</a:t>
            </a:r>
          </a:p>
        </p:txBody>
      </p:sp>
    </p:spTree>
    <p:extLst>
      <p:ext uri="{BB962C8B-B14F-4D97-AF65-F5344CB8AC3E}">
        <p14:creationId xmlns:p14="http://schemas.microsoft.com/office/powerpoint/2010/main" val="3555887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286C6-B34E-73F2-A4A1-623F8DF13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Trials 1 to 4: the first swings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6F046CE-2FB1-44AB-8735-6022055CD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6052576"/>
              </p:ext>
            </p:extLst>
          </p:nvPr>
        </p:nvGraphicFramePr>
        <p:xfrm>
          <a:off x="698500" y="1841500"/>
          <a:ext cx="10160000" cy="1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87001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4962748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85639105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7332767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804053555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199982320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trial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stim (ms)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θ̂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SD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β̂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94148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C2410C"/>
                          </a:solidFill>
                        </a:rPr>
                        <a:t>miss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122.4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F766E"/>
                          </a:solidFill>
                        </a:rPr>
                        <a:t>3.04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73476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103.9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37.0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F766E"/>
                          </a:solidFill>
                        </a:rPr>
                        <a:t>2.99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04997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89.6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32.8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F766E"/>
                          </a:solidFill>
                        </a:rPr>
                        <a:t>3.00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6119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76.5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28.0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0F766E"/>
                          </a:solidFill>
                        </a:rPr>
                        <a:t>3.00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89531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072C7C2-B99A-4EBB-8B27-2B2855C2556C}"/>
              </a:ext>
            </a:extLst>
          </p:cNvPr>
          <p:cNvSpPr txBox="1"/>
          <p:nvPr/>
        </p:nvSpPr>
        <p:spPr>
          <a:xfrm>
            <a:off x="698500" y="3632200"/>
            <a:ext cx="10795000" cy="3022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200"/>
              </a:spcBef>
              <a:buNone/>
            </a:pPr>
            <a:r>
              <a:rPr lang="en-US" sz="1400" b="1" dirty="0">
                <a:solidFill>
                  <a:srgbClr val="C2410C"/>
                </a:solidFill>
              </a:rPr>
              <a:t>θ̂:  </a:t>
            </a:r>
            <a:r>
              <a:rPr lang="en-US" sz="1400" dirty="0">
                <a:solidFill>
                  <a:srgbClr val="C2410C"/>
                </a:solidFill>
              </a:rPr>
              <a:t>the weighted mean of the θ column, as in step 3 on slide 8. SD says how unsure that guess is.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/>
              <a:t>Trial 1.  </a:t>
            </a:r>
            <a:r>
              <a:rPr lang="en-US" sz="1400" dirty="0"/>
              <a:t>60 ms was the best pick and the player missed it. A miss says “probably higher than 60”, so θ̂ jumps 92.5 to 122.4.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/>
              <a:t>Trial 2.  </a:t>
            </a:r>
            <a:r>
              <a:rPr lang="en-US" sz="1400" dirty="0"/>
              <a:t>θ̂ is 122, now we check for score. All 8 are checked for entropy Score. 100 ms comes out lowest: 3.865, against 3.873 at 120 and 3.882 at 80. Lowest score wins, therefore we pick 100 again.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/>
              <a:t>Trial 3.  </a:t>
            </a:r>
            <a:r>
              <a:rPr lang="en-US" sz="1400" dirty="0"/>
              <a:t>same test, hit. Now higher thresholds drops off and SD finally drops, 37.0 to 32.8.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1400" b="1" dirty="0"/>
              <a:t>Trial 4.  </a:t>
            </a:r>
            <a:r>
              <a:rPr lang="en-US" sz="1400" dirty="0"/>
              <a:t>the test now came down to 80 ms. Hit, θ̂ = 76.5, SD = 28.0.</a:t>
            </a:r>
          </a:p>
          <a:p>
            <a:pPr algn="l">
              <a:spcBef>
                <a:spcPts val="200"/>
              </a:spcBef>
              <a:buNone/>
            </a:pPr>
            <a:endParaRPr lang="en-US" sz="1400" dirty="0"/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β̂ (slope):  </a:t>
            </a:r>
            <a:r>
              <a:rPr lang="en-US" sz="1400" dirty="0">
                <a:solidFill>
                  <a:srgbClr val="0F766E"/>
                </a:solidFill>
              </a:rPr>
              <a:t>high β is a sharp cutoff, they miss below their threshold and catch above it. Low β is fuzzy, they sometimes catch tiny stutters and miss big ones.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b="1" dirty="0">
                <a:solidFill>
                  <a:srgbClr val="0F766E"/>
                </a:solidFill>
              </a:rPr>
              <a:t>Example:  </a:t>
            </a:r>
            <a:r>
              <a:rPr lang="en-US" sz="1400" dirty="0">
                <a:solidFill>
                  <a:srgbClr val="0F766E"/>
                </a:solidFill>
              </a:rPr>
              <a:t>the stim grid holds 8 sizes (20, 40, 60, 80, 100, 120, 140, 160) and each gets a score. Steep player (β = 4): best 2.702 at 100 ms, worst 2.879 at 20 ms. Shallow player (β = 2): best 2.852 at 100 ms, worst 2.926 at 20 ms, so only 0.07 between them. </a:t>
            </a:r>
            <a:r>
              <a:rPr lang="en-US" sz="1400" b="1" dirty="0">
                <a:solidFill>
                  <a:srgbClr val="0F766E"/>
                </a:solidFill>
              </a:rPr>
              <a:t>Lower is better, </a:t>
            </a:r>
            <a:r>
              <a:rPr lang="en-US" sz="1400" dirty="0">
                <a:solidFill>
                  <a:srgbClr val="0F766E"/>
                </a:solidFill>
              </a:rPr>
              <a:t>so the steep player sharpens our table faster.</a:t>
            </a:r>
          </a:p>
        </p:txBody>
      </p:sp>
    </p:spTree>
    <p:extLst>
      <p:ext uri="{BB962C8B-B14F-4D97-AF65-F5344CB8AC3E}">
        <p14:creationId xmlns:p14="http://schemas.microsoft.com/office/powerpoint/2010/main" val="3361468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F807D-351D-56B0-FD38-8486117C6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Trials 5 to 8: closing in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E3C452-88EF-4FA3-BB83-4F10C1315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628605"/>
              </p:ext>
            </p:extLst>
          </p:nvPr>
        </p:nvGraphicFramePr>
        <p:xfrm>
          <a:off x="698500" y="1841500"/>
          <a:ext cx="10160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943456069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3476574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8816027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996903115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595601569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88036434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trial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stim (ms)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SD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β̂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24472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23.8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3.03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92970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59.1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21.6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2.98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10566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C2410C"/>
                          </a:solidFill>
                        </a:rPr>
                        <a:t>miss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66.3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3.06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936275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62.9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15.5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3.10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370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1D66B3-28C3-4F47-A5E9-08F218C713C0}"/>
              </a:ext>
            </a:extLst>
          </p:cNvPr>
          <p:cNvSpPr txBox="1"/>
          <p:nvPr/>
        </p:nvSpPr>
        <p:spPr>
          <a:xfrm>
            <a:off x="698500" y="4254500"/>
            <a:ext cx="10795000" cy="216982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/>
              <a:t>Trial 5.  Another hit at 80 </a:t>
            </a:r>
            <a:r>
              <a:rPr lang="en-US" sz="1500" dirty="0" err="1"/>
              <a:t>ms.</a:t>
            </a:r>
            <a:r>
              <a:rPr lang="en-US" sz="1500" dirty="0"/>
              <a:t> θ̂ = 68.1, SD = 23.8. Each hit at a size shaves probability off every θ above it.
Trial 6.  Back to 60 </a:t>
            </a:r>
            <a:r>
              <a:rPr lang="en-US" sz="1500" dirty="0" err="1"/>
              <a:t>ms</a:t>
            </a:r>
            <a:r>
              <a:rPr lang="en-US" sz="1500" dirty="0"/>
              <a:t>, this time a hit. θ̂ = 59.1, already within 1 </a:t>
            </a:r>
            <a:r>
              <a:rPr lang="en-US" sz="1500" dirty="0" err="1"/>
              <a:t>ms</a:t>
            </a:r>
            <a:r>
              <a:rPr lang="en-US" sz="1500" dirty="0"/>
              <a:t> of the true 60. SD is still 21.6, so the estimate is right but not yet trusted.
Trial 7.  The algorithm selects, 40 </a:t>
            </a:r>
            <a:r>
              <a:rPr lang="en-US" sz="1500" dirty="0" err="1"/>
              <a:t>ms</a:t>
            </a:r>
            <a:r>
              <a:rPr lang="en-US" sz="1500" dirty="0"/>
              <a:t>, to test the bottom of the range. Miss. That rules out very small thresholds, so SD drops, 21.6 to 17.9, and θ̂ goes up to 66.3 </a:t>
            </a:r>
            <a:r>
              <a:rPr lang="en-US" sz="1500" dirty="0" err="1"/>
              <a:t>ms.</a:t>
            </a:r>
            <a:r>
              <a:rPr lang="en-US" sz="1500" dirty="0"/>
              <a:t>
Trial 8.  Confirming hit at 80 </a:t>
            </a:r>
            <a:r>
              <a:rPr lang="en-US" sz="1500" dirty="0" err="1"/>
              <a:t>ms.</a:t>
            </a:r>
            <a:r>
              <a:rPr lang="en-US" sz="1500" dirty="0"/>
              <a:t> θ̂ = 62.9, SD = 15.5.</a:t>
            </a:r>
          </a:p>
        </p:txBody>
      </p:sp>
    </p:spTree>
    <p:extLst>
      <p:ext uri="{BB962C8B-B14F-4D97-AF65-F5344CB8AC3E}">
        <p14:creationId xmlns:p14="http://schemas.microsoft.com/office/powerpoint/2010/main" val="2633697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D136D-74B0-8D64-D512-9E800459F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Trials 9 to 12, and when we stop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176BEAD-B52F-4CB4-9FDD-CDE386637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786408"/>
              </p:ext>
            </p:extLst>
          </p:nvPr>
        </p:nvGraphicFramePr>
        <p:xfrm>
          <a:off x="698500" y="1841500"/>
          <a:ext cx="10160000" cy="215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62667261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73495277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83203736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31977517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28470149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158786238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trial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stim (ms)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SD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β̂ after</a:t>
                      </a:r>
                    </a:p>
                  </a:txBody>
                  <a:tcPr anchor="ctr">
                    <a:solidFill>
                      <a:srgbClr val="1F6F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7823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58.5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3.07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08539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C2410C"/>
                          </a:solidFill>
                        </a:rPr>
                        <a:t>miss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65.1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13.6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3.10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85599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63.0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12.2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3.13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621212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12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60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0F766E"/>
                          </a:solidFill>
                        </a:rPr>
                        <a:t>hit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59.9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11.2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3.11</a:t>
                      </a:r>
                    </a:p>
                  </a:txBody>
                  <a:tcPr anchor="ctr"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34067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6A5917A-22B2-4BDD-BF39-35DEE1E115F5}"/>
              </a:ext>
            </a:extLst>
          </p:cNvPr>
          <p:cNvSpPr txBox="1"/>
          <p:nvPr/>
        </p:nvSpPr>
        <p:spPr>
          <a:xfrm>
            <a:off x="698500" y="4254500"/>
            <a:ext cx="6731000" cy="147732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dirty="0"/>
              <a:t>Trials 9 to 12.  The question settles at 60 to 80 </a:t>
            </a:r>
            <a:r>
              <a:rPr lang="en-US" sz="1500" dirty="0" err="1"/>
              <a:t>ms</a:t>
            </a:r>
            <a:r>
              <a:rPr lang="en-US" sz="1500" dirty="0"/>
              <a:t>, right where the curve is steepest and answers are most informative. θ̂ wobbles between 58.5 and 65.1, SD keeps shrinking: 14.0, 13.6, 12.2, 11.2.
Final answer after </a:t>
            </a:r>
            <a:r>
              <a:rPr lang="en-US" sz="1500" b="1" dirty="0"/>
              <a:t>12 trials</a:t>
            </a:r>
            <a:r>
              <a:rPr lang="en-US" sz="1500" dirty="0"/>
              <a:t>: θ̂ = 59.9 </a:t>
            </a:r>
            <a:r>
              <a:rPr lang="en-US" sz="1500" dirty="0" err="1"/>
              <a:t>ms</a:t>
            </a:r>
            <a:r>
              <a:rPr lang="en-US" sz="1500" dirty="0"/>
              <a:t>, SD = 11.2 </a:t>
            </a:r>
            <a:r>
              <a:rPr lang="en-US" sz="1500" dirty="0" err="1"/>
              <a:t>ms</a:t>
            </a:r>
            <a:r>
              <a:rPr lang="en-US" sz="1500" dirty="0"/>
              <a:t>, β̂ = 3.11. The true player was θ = 60 </a:t>
            </a:r>
            <a:r>
              <a:rPr lang="en-US" sz="1500" dirty="0" err="1"/>
              <a:t>ms</a:t>
            </a:r>
            <a:r>
              <a:rPr lang="en-US" sz="1500" dirty="0"/>
              <a:t>, β = 3. Off by 0.1 </a:t>
            </a:r>
            <a:r>
              <a:rPr lang="en-US" sz="1500" dirty="0" err="1"/>
              <a:t>ms.</a:t>
            </a:r>
            <a:endParaRPr lang="en-US" sz="15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9567363-C693-4F92-A455-812F2C06AD4E}"/>
              </a:ext>
            </a:extLst>
          </p:cNvPr>
          <p:cNvSpPr/>
          <p:nvPr/>
        </p:nvSpPr>
        <p:spPr>
          <a:xfrm>
            <a:off x="7683500" y="4165600"/>
            <a:ext cx="4000500" cy="24892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algn="l"/>
            <a:r>
              <a:rPr lang="en-US" sz="1400" dirty="0" err="1">
                <a:solidFill>
                  <a:srgbClr val="16202B"/>
                </a:solidFill>
              </a:rPr>
              <a:t>IsFinished</a:t>
            </a:r>
            <a:r>
              <a:rPr lang="en-US" sz="1400" dirty="0">
                <a:solidFill>
                  <a:srgbClr val="16202B"/>
                </a:solidFill>
              </a:rPr>
              <a:t> check
</a:t>
            </a:r>
            <a:r>
              <a:rPr lang="en-US" sz="1400" b="1" dirty="0" err="1">
                <a:solidFill>
                  <a:srgbClr val="16202B"/>
                </a:solidFill>
              </a:rPr>
              <a:t>TrialCount</a:t>
            </a:r>
            <a:r>
              <a:rPr lang="en-US" sz="1400" b="1" dirty="0">
                <a:solidFill>
                  <a:srgbClr val="16202B"/>
                </a:solidFill>
              </a:rPr>
              <a:t> &gt;= </a:t>
            </a:r>
            <a:r>
              <a:rPr lang="en-US" sz="1400" b="1" dirty="0" err="1">
                <a:solidFill>
                  <a:srgbClr val="16202B"/>
                </a:solidFill>
              </a:rPr>
              <a:t>maxTrials</a:t>
            </a:r>
            <a:r>
              <a:rPr lang="en-US" sz="1400" b="1" dirty="0">
                <a:solidFill>
                  <a:srgbClr val="16202B"/>
                </a:solidFill>
              </a:rPr>
              <a:t> (12)   → yes, stop
</a:t>
            </a:r>
            <a:r>
              <a:rPr lang="en-US" sz="1400" dirty="0">
                <a:solidFill>
                  <a:srgbClr val="16202B"/>
                </a:solidFill>
              </a:rPr>
              <a:t>
or  </a:t>
            </a:r>
            <a:r>
              <a:rPr lang="en-US" sz="1400" dirty="0" err="1">
                <a:solidFill>
                  <a:srgbClr val="16202B"/>
                </a:solidFill>
              </a:rPr>
              <a:t>TrialCount</a:t>
            </a:r>
            <a:r>
              <a:rPr lang="en-US" sz="1400" dirty="0">
                <a:solidFill>
                  <a:srgbClr val="16202B"/>
                </a:solidFill>
              </a:rPr>
              <a:t> &gt;= </a:t>
            </a:r>
            <a:r>
              <a:rPr lang="en-US" sz="1400" dirty="0" err="1">
                <a:solidFill>
                  <a:srgbClr val="16202B"/>
                </a:solidFill>
              </a:rPr>
              <a:t>minTrials</a:t>
            </a:r>
            <a:r>
              <a:rPr lang="en-US" sz="1400" dirty="0">
                <a:solidFill>
                  <a:srgbClr val="16202B"/>
                </a:solidFill>
              </a:rPr>
              <a:t> (8)
and SD &lt;= </a:t>
            </a:r>
            <a:r>
              <a:rPr lang="en-US" sz="1400" dirty="0" err="1">
                <a:solidFill>
                  <a:srgbClr val="16202B"/>
                </a:solidFill>
              </a:rPr>
              <a:t>stopSD</a:t>
            </a:r>
            <a:r>
              <a:rPr lang="en-US" sz="1400" dirty="0">
                <a:solidFill>
                  <a:srgbClr val="16202B"/>
                </a:solidFill>
              </a:rPr>
              <a:t> (4 </a:t>
            </a:r>
            <a:r>
              <a:rPr lang="en-US" sz="1400" dirty="0" err="1">
                <a:solidFill>
                  <a:srgbClr val="16202B"/>
                </a:solidFill>
              </a:rPr>
              <a:t>ms</a:t>
            </a:r>
            <a:r>
              <a:rPr lang="en-US" sz="1400" dirty="0">
                <a:solidFill>
                  <a:srgbClr val="16202B"/>
                </a:solidFill>
              </a:rPr>
              <a:t>)   → 11.2 &gt; 4, no</a:t>
            </a:r>
          </a:p>
          <a:p>
            <a:pPr algn="l"/>
            <a:endParaRPr lang="en-US" sz="1400" dirty="0">
              <a:solidFill>
                <a:srgbClr val="16202B"/>
              </a:solidFill>
            </a:endParaRPr>
          </a:p>
          <a:p>
            <a:pPr algn="l"/>
            <a:r>
              <a:rPr lang="en-US" sz="1400" dirty="0">
                <a:solidFill>
                  <a:srgbClr val="16202B"/>
                </a:solidFill>
              </a:rPr>
              <a:t>On higher trial number it will keep going till SD drops below threshold
</a:t>
            </a:r>
          </a:p>
        </p:txBody>
      </p:sp>
    </p:spTree>
    <p:extLst>
      <p:ext uri="{BB962C8B-B14F-4D97-AF65-F5344CB8AC3E}">
        <p14:creationId xmlns:p14="http://schemas.microsoft.com/office/powerpoint/2010/main" val="3695447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E887F-D8B2-E112-9ADE-18499AF6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SD and θ̂</a:t>
            </a:r>
          </a:p>
        </p:txBody>
      </p:sp>
      <p:graphicFrame>
        <p:nvGraphicFramePr>
          <p:cNvPr id="120" name="Chart 120"/>
          <p:cNvGraphicFramePr/>
          <p:nvPr/>
        </p:nvGraphicFramePr>
        <p:xfrm>
          <a:off x="508000" y="1790700"/>
          <a:ext cx="11176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4784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D486D-5CF0-E3A5-DE3D-FF435772F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What λ and γ do to the curve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6A5C2E-2441-4D46-B183-51D651B8DD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06044"/>
              </p:ext>
            </p:extLst>
          </p:nvPr>
        </p:nvGraphicFramePr>
        <p:xfrm>
          <a:off x="508000" y="1841500"/>
          <a:ext cx="5842000" cy="4118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49553633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84889029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61840437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4084833584"/>
                    </a:ext>
                  </a:extLst>
                </a:gridCol>
              </a:tblGrid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stim (ms)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 eq  (γ=0, λ=0)</a:t>
                      </a:r>
                    </a:p>
                    <a:p>
                      <a:pPr algn="ctr"/>
                      <a:endParaRPr lang="en-US" sz="1400" b="1" dirty="0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γ=0.05, λ=0.06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γ=0, λ=0</a:t>
                      </a:r>
                    </a:p>
                  </a:txBody>
                  <a:tcPr anchor="ctr">
                    <a:solidFill>
                      <a:srgbClr val="C241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418770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0.082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0.036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6940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0.256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0.278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0.256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034473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0.632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0.613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552229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0.907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0.857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0.907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883548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0.990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0.931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426372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0.940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1.000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879061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0.940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1.000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930816"/>
                  </a:ext>
                </a:extLst>
              </a:tr>
              <a:tr h="423333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0.940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1.000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29655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F12AEDE-813F-4CB6-A991-0DFAACDBE7AA}"/>
              </a:ext>
            </a:extLst>
          </p:cNvPr>
          <p:cNvSpPr txBox="1"/>
          <p:nvPr/>
        </p:nvSpPr>
        <p:spPr>
          <a:xfrm>
            <a:off x="6477000" y="1841500"/>
            <a:ext cx="5207000" cy="28931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dirty="0"/>
              <a:t>γ is a floor, λ is a ceiling.
With γ = 0.05 the curve can never drop below 0.05, so a hit at 20 </a:t>
            </a:r>
            <a:r>
              <a:rPr lang="en-US" sz="1400" dirty="0" err="1"/>
              <a:t>ms</a:t>
            </a:r>
            <a:r>
              <a:rPr lang="en-US" sz="1400" dirty="0"/>
              <a:t> is not proof of a very low threshold. It might just be luck.
With λ = 0.06 the curve can never rise above 0.94, so a miss at 160 </a:t>
            </a:r>
            <a:r>
              <a:rPr lang="en-US" sz="1400" dirty="0" err="1"/>
              <a:t>ms</a:t>
            </a:r>
            <a:r>
              <a:rPr lang="en-US" sz="1400" dirty="0"/>
              <a:t> is not proof that the player really needs more than 160 </a:t>
            </a:r>
            <a:r>
              <a:rPr lang="en-US" sz="1400" dirty="0" err="1"/>
              <a:t>ms.</a:t>
            </a:r>
            <a:r>
              <a:rPr lang="en-US" sz="1400" dirty="0"/>
              <a:t> Player may have lost attention. Without λ in the table, one unlucky miss at a big stutter drags θ̂ up and it takes several trials to recover.
But higher </a:t>
            </a:r>
            <a:r>
              <a:rPr lang="el-GR" sz="1400" dirty="0"/>
              <a:t>γ, λ</a:t>
            </a:r>
            <a:r>
              <a:rPr lang="en-US" sz="1400" dirty="0"/>
              <a:t> makes the session less precise. SD falls slowly. Lets see what happens on next slide: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D6E333-BC9E-F46B-922C-5E8E0E04F69B}"/>
              </a:ext>
            </a:extLst>
          </p:cNvPr>
          <p:cNvSpPr txBox="1"/>
          <p:nvPr/>
        </p:nvSpPr>
        <p:spPr>
          <a:xfrm>
            <a:off x="3535531" y="1273651"/>
            <a:ext cx="8227381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2600" b="1" dirty="0"/>
              <a:t>γ + (1 − γ − λ) × (1 − </a:t>
            </a:r>
            <a:r>
              <a:rPr lang="en-US" sz="2600" b="1" dirty="0"/>
              <a:t>exp(−(x / </a:t>
            </a:r>
            <a:r>
              <a:rPr lang="el-GR" sz="2600" b="1" dirty="0"/>
              <a:t>θ)^β))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737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F6F55-FD9A-232E-7823-EBCD649E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Same player, but γ = 0 and λ = 0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6777919-A1C4-48DC-A495-D533C891F70A}"/>
              </a:ext>
            </a:extLst>
          </p:cNvPr>
          <p:cNvGraphicFramePr>
            <a:graphicFrameLocks noGrp="1"/>
          </p:cNvGraphicFramePr>
          <p:nvPr/>
        </p:nvGraphicFramePr>
        <p:xfrm>
          <a:off x="508000" y="1841500"/>
          <a:ext cx="6096000" cy="4318002"/>
        </p:xfrm>
        <a:graphic>
          <a:graphicData uri="http://schemas.openxmlformats.org/drawingml/2006/table">
            <a:tbl>
              <a:tblPr/>
              <a:tblGrid>
                <a:gridCol w="889000">
                  <a:extLst>
                    <a:ext uri="{9D8B030D-6E8A-4147-A177-3AD203B41FA5}">
                      <a16:colId xmlns:a16="http://schemas.microsoft.com/office/drawing/2014/main" val="2681425216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164813467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409434396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35470825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5367486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034299379"/>
                    </a:ext>
                  </a:extLst>
                </a:gridCol>
              </a:tblGrid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trial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stim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P(hit)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response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θ̂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470695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0.632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miss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124.1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36.0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0210555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0.990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104.4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34.4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267183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0.990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90.2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29.3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987315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0.990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81.4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24.1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8171598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0.907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73.2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19.6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726522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0.907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68.0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16.5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0949281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0.907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64.5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14.3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92462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0.632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59.8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12.7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067628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9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0.632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56.3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11.4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3234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0.632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miss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62.3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11.3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105522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11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80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0.907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60.8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10.4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37216"/>
                  </a:ext>
                </a:extLst>
              </a:tr>
              <a:tr h="332154"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12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80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0.907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hit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59.6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/>
                        <a:t>9.7</a:t>
                      </a:r>
                    </a:p>
                  </a:txBody>
                  <a:tcPr marT="39077" marB="39077" anchor="ctr">
                    <a:lnL w="0"/>
                    <a:lnR w="0"/>
                    <a:lnT w="0"/>
                    <a:lnB w="0"/>
                    <a:lnTlToBr w="0"/>
                    <a:lnBlToTr w="0"/>
                    <a:solidFill>
                      <a:srgbClr val="D6EE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259227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C36FEB4-F1BD-42BE-A414-66F6E0BA8BF7}"/>
              </a:ext>
            </a:extLst>
          </p:cNvPr>
          <p:cNvSpPr txBox="1"/>
          <p:nvPr/>
        </p:nvSpPr>
        <p:spPr>
          <a:xfrm>
            <a:off x="6921500" y="1905000"/>
            <a:ext cx="47625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Bef>
                <a:spcPts val="700"/>
              </a:spcBef>
              <a:buNone/>
            </a:pPr>
            <a:r>
              <a:rPr lang="en-US" sz="1700" b="1" dirty="0">
                <a:solidFill>
                  <a:srgbClr val="1F6FB2"/>
                </a:solidFill>
              </a:rPr>
              <a:t>What changes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1500" b="1" dirty="0"/>
              <a:t>Smaller table.  </a:t>
            </a:r>
            <a:r>
              <a:rPr lang="en-US" sz="1500" dirty="0"/>
              <a:t>λ has one value now, so 36 cells instead of 72.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1500" b="1" dirty="0"/>
              <a:t>Sharper answers.  </a:t>
            </a:r>
            <a:r>
              <a:rPr lang="en-US" sz="1500" dirty="0"/>
              <a:t>100 ms predicts 0.990 instead of 0.931, 20 ms predicts 0.036 instead of 0.082.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1500" b="1" dirty="0"/>
              <a:t>Tighter finish.  </a:t>
            </a:r>
            <a:r>
              <a:rPr lang="en-US" sz="1500" dirty="0"/>
              <a:t>SD 9.7 against 11.2, and θ̂ 59.6 against 59.9.</a:t>
            </a:r>
          </a:p>
          <a:p>
            <a:pPr algn="l">
              <a:spcBef>
                <a:spcPts val="700"/>
              </a:spcBef>
              <a:buNone/>
            </a:pPr>
            <a:r>
              <a:rPr lang="en-US" sz="1700" b="1" dirty="0">
                <a:solidFill>
                  <a:srgbClr val="C2410C"/>
                </a:solidFill>
              </a:rPr>
              <a:t>The catch</a:t>
            </a:r>
          </a:p>
          <a:p>
            <a:pPr algn="l">
              <a:spcBef>
                <a:spcPts val="350"/>
              </a:spcBef>
              <a:buNone/>
            </a:pPr>
            <a:r>
              <a:rPr lang="en-US" sz="1500" dirty="0"/>
              <a:t>If the player blinks, or gets lucky with a wild shot, this model can mess up the threshold. Next slide shows an example…</a:t>
            </a:r>
          </a:p>
        </p:txBody>
      </p:sp>
    </p:spTree>
    <p:extLst>
      <p:ext uri="{BB962C8B-B14F-4D97-AF65-F5344CB8AC3E}">
        <p14:creationId xmlns:p14="http://schemas.microsoft.com/office/powerpoint/2010/main" val="1347308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811C6-2A42-373B-3F1D-70446444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If player makes a mistake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E5ED21-0777-4DDB-9993-2E1B3756E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0504040"/>
              </p:ext>
            </p:extLst>
          </p:nvPr>
        </p:nvGraphicFramePr>
        <p:xfrm>
          <a:off x="508000" y="1905000"/>
          <a:ext cx="11176000" cy="36790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175334999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656362437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9599842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10851094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614130597"/>
                    </a:ext>
                  </a:extLst>
                </a:gridCol>
              </a:tblGrid>
              <a:tr h="735811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extra answer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θ̂ with γ, λ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θ̂ without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505065"/>
                  </a:ext>
                </a:extLst>
              </a:tr>
              <a:tr h="735811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after the 12 trials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59.9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11.2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59.6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9.7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692347"/>
                  </a:ext>
                </a:extLst>
              </a:tr>
              <a:tr h="735811">
                <a:tc>
                  <a:txBody>
                    <a:bodyPr/>
                    <a:lstStyle/>
                    <a:p>
                      <a:pPr algn="l"/>
                      <a:r>
                        <a:rPr lang="en-US" sz="2000" b="1" dirty="0"/>
                        <a:t>then a lapse: miss at 160 </a:t>
                      </a:r>
                      <a:r>
                        <a:rPr lang="en-US" sz="2000" b="1" dirty="0" err="1"/>
                        <a:t>ms</a:t>
                      </a:r>
                      <a:endParaRPr lang="en-US" sz="2000" b="1" dirty="0"/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/>
                        <a:t>60.0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/>
                        <a:t>14.3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/>
                        <a:t>83.3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/>
                        <a:t>15.0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819201"/>
                  </a:ext>
                </a:extLst>
              </a:tr>
              <a:tr h="735811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then a lucky hit at 20 ms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55.8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13.9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54.0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10.2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0611645"/>
                  </a:ext>
                </a:extLst>
              </a:tr>
              <a:tr h="735811">
                <a:tc>
                  <a:txBody>
                    <a:bodyPr/>
                    <a:lstStyle/>
                    <a:p>
                      <a:pPr algn="l"/>
                      <a:r>
                        <a:rPr lang="en-US" sz="2000"/>
                        <a:t>both of those answers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54.0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17.7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/>
                        <a:t>78.5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/>
                        <a:t>13.5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84605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661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429C8-BF9E-924A-848B-78FD4E31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err="1"/>
              <a:t>Appndx</a:t>
            </a:r>
            <a:r>
              <a:rPr lang="en-US" sz="3200" b="1" dirty="0"/>
              <a:t>::::: QUEST vs QUEST+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3473A1-7693-4929-A423-9F9D32A92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3712068"/>
              </p:ext>
            </p:extLst>
          </p:nvPr>
        </p:nvGraphicFramePr>
        <p:xfrm>
          <a:off x="508000" y="1905000"/>
          <a:ext cx="1117600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708459303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65864659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242402099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2384579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870402132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57000686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endParaRPr lang="en-US" sz="14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what it tracks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where it asks</a:t>
                      </a:r>
                    </a:p>
                  </a:txBody>
                  <a:tcPr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θ̂ after 12</a:t>
                      </a:r>
                    </a:p>
                  </a:txBody>
                  <a:tcPr marR="152400"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 marR="152400" anchor="ctr">
                    <a:solidFill>
                      <a:srgbClr val="3648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θ̂ after one lapse at 160 ms</a:t>
                      </a:r>
                    </a:p>
                  </a:txBody>
                  <a:tcPr marR="152400" anchor="ctr">
                    <a:solidFill>
                      <a:srgbClr val="3648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69571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QUEST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threshold only, 12 cells, slope fixed at 3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at its current estimate</a:t>
                      </a: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63.8</a:t>
                      </a:r>
                    </a:p>
                  </a:txBody>
                  <a:tcPr marR="152400"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10.0</a:t>
                      </a:r>
                    </a:p>
                  </a:txBody>
                  <a:tcPr marR="152400"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100.3</a:t>
                      </a:r>
                    </a:p>
                  </a:txBody>
                  <a:tcPr marR="152400"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745495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400" b="1"/>
                        <a:t>QUEST+</a:t>
                      </a:r>
                    </a:p>
                  </a:txBody>
                  <a:tcPr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threshold, slope and lapse, 72 cells</a:t>
                      </a:r>
                    </a:p>
                  </a:txBody>
                  <a:tcPr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/>
                        <a:t>wherever the score is lowest</a:t>
                      </a:r>
                    </a:p>
                  </a:txBody>
                  <a:tcPr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59.9</a:t>
                      </a:r>
                    </a:p>
                  </a:txBody>
                  <a:tcPr marR="152400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/>
                        <a:t>11.2</a:t>
                      </a:r>
                    </a:p>
                  </a:txBody>
                  <a:tcPr marR="152400" anchor="ctr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B050"/>
                          </a:solidFill>
                        </a:rPr>
                        <a:t>60.0</a:t>
                      </a:r>
                    </a:p>
                  </a:txBody>
                  <a:tcPr marR="152400" anchor="ctr">
                    <a:solidFill>
                      <a:srgbClr val="DC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9566389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2E461C1-F65F-4319-9B06-3F11B500BC5F}"/>
              </a:ext>
            </a:extLst>
          </p:cNvPr>
          <p:cNvSpPr/>
          <p:nvPr/>
        </p:nvSpPr>
        <p:spPr>
          <a:xfrm>
            <a:off x="508000" y="4038600"/>
            <a:ext cx="5461000" cy="2032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1F6FB2"/>
                </a:solidFill>
              </a:rPr>
              <a:t>The higher level difference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QUEST keeps one row of threshold guesses and always tests at the average of that row. Slope and lapse are fixed for the whole session.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QUEST+ keeps a grid of complete guesses (threshold, slope, lapse) and tests whichever size scores lowest.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636525A-D5B5-4F9F-93C9-808B00BE5AC0}"/>
              </a:ext>
            </a:extLst>
          </p:cNvPr>
          <p:cNvSpPr/>
          <p:nvPr/>
        </p:nvSpPr>
        <p:spPr>
          <a:xfrm>
            <a:off x="6223000" y="4038600"/>
            <a:ext cx="5461000" cy="2032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>
              <a:buNone/>
            </a:pPr>
            <a:r>
              <a:rPr lang="en-US" sz="1600" b="1" dirty="0">
                <a:solidFill>
                  <a:srgbClr val="C2410C"/>
                </a:solidFill>
              </a:rPr>
              <a:t>How QUEST gets its threshold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12 threshold guesses, equal at the start.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Each answer multiplies every guess by the chance that guess gave to it, hit or miss. Good predictors keep weight, bad ones lose it.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400" dirty="0">
                <a:solidFill>
                  <a:srgbClr val="16202B"/>
                </a:solidFill>
              </a:rPr>
              <a:t>Threshold = weighted mean of the 12, the same sum as slide 8. Next stutter = the grid size nearest that mean.</a:t>
            </a:r>
          </a:p>
        </p:txBody>
      </p:sp>
    </p:spTree>
    <p:extLst>
      <p:ext uri="{BB962C8B-B14F-4D97-AF65-F5344CB8AC3E}">
        <p14:creationId xmlns:p14="http://schemas.microsoft.com/office/powerpoint/2010/main" val="1777418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5917673266]">
  <a:themeElements>
    <a:clrScheme name="Office">
      <a:dk1>
        <a:srgbClr val="16202B"/>
      </a:dk1>
      <a:lt1>
        <a:srgbClr val="FFFFFF"/>
      </a:lt1>
      <a:dk2>
        <a:srgbClr val="36485C"/>
      </a:dk2>
      <a:lt2>
        <a:srgbClr val="EEF3F8"/>
      </a:lt2>
      <a:accent1>
        <a:srgbClr val="1F6FB2"/>
      </a:accent1>
      <a:accent2>
        <a:srgbClr val="C2410C"/>
      </a:accent2>
      <a:accent3>
        <a:srgbClr val="0F766E"/>
      </a:accent3>
      <a:accent4>
        <a:srgbClr val="6D28D9"/>
      </a:accent4>
      <a:accent5>
        <a:srgbClr val="B45309"/>
      </a:accent5>
      <a:accent6>
        <a:srgbClr val="64748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4BCD4C6-08D3-4A51-807C-EBACB9F970A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440e5696-f08c-4874-b2ae-72b499233be0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D4676F6983E444877B0FF5773673D8" ma:contentTypeVersion="16" ma:contentTypeDescription="Create a new document." ma:contentTypeScope="" ma:versionID="d20c27f2d4242087d5a9be222985f8c4">
  <xsd:schema xmlns:xsd="http://www.w3.org/2001/XMLSchema" xmlns:xs="http://www.w3.org/2001/XMLSchema" xmlns:p="http://schemas.microsoft.com/office/2006/metadata/properties" xmlns:ns3="d9765c0f-1429-4cf2-960b-a6f59394318d" xmlns:ns4="c2d8e6b2-937e-4f89-954b-ff0dfef8abae" targetNamespace="http://schemas.microsoft.com/office/2006/metadata/properties" ma:root="true" ma:fieldsID="06cd8e681d0889c27cc6dc3167a29afd" ns3:_="" ns4:_="">
    <xsd:import namespace="d9765c0f-1429-4cf2-960b-a6f59394318d"/>
    <xsd:import namespace="c2d8e6b2-937e-4f89-954b-ff0dfef8aba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LengthInSeconds" minOccurs="0"/>
                <xsd:element ref="ns3:MediaServiceDateTake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65c0f-1429-4cf2-960b-a6f593943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d8e6b2-937e-4f89-954b-ff0dfef8aba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765c0f-1429-4cf2-960b-a6f59394318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401E72-6D9B-4ED1-9BEB-E5E4B4977968}">
  <ds:schemaRefs>
    <ds:schemaRef ds:uri="c2d8e6b2-937e-4f89-954b-ff0dfef8abae"/>
    <ds:schemaRef ds:uri="d9765c0f-1429-4cf2-960b-a6f59394318d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6902AF-31CC-4B72-9AED-637EC79EA4D4}">
  <ds:schemaRefs>
    <ds:schemaRef ds:uri="c2d8e6b2-937e-4f89-954b-ff0dfef8abae"/>
    <ds:schemaRef ds:uri="http://schemas.openxmlformats.org/package/2006/metadata/core-properties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9765c0f-1429-4cf2-960b-a6f59394318d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689FF59-9F36-4631-8077-E03B929A03D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589c76f5-ca15-41f9-884b-55ec15a0672a}" enabled="0" method="" siteId="{589c76f5-ca15-41f9-884b-55ec15a0672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9444</TotalTime>
  <Words>2835</Words>
  <Application>Microsoft Office PowerPoint</Application>
  <PresentationFormat>Widescreen</PresentationFormat>
  <Paragraphs>674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Arial</vt:lpstr>
      <vt:lpstr>Segoe UI</vt:lpstr>
      <vt:lpstr>Segoe UI Semibold</vt:lpstr>
      <vt:lpstr>Office Theme [1785917673266]</vt:lpstr>
      <vt:lpstr>QUEST+ on FT stutter JND</vt:lpstr>
      <vt:lpstr>Variables</vt:lpstr>
      <vt:lpstr>QUEST+ EQ</vt:lpstr>
      <vt:lpstr>Stim, thres, slope and lapse array</vt:lpstr>
      <vt:lpstr>Why the table has 72 cells, not 12</vt:lpstr>
      <vt:lpstr>Where SD comes from</vt:lpstr>
      <vt:lpstr>Scoring one stutter size, on 4 cells</vt:lpstr>
      <vt:lpstr>Picking trial 1: the stim that teaches us most</vt:lpstr>
      <vt:lpstr>Trials 1 to 4: the first swings</vt:lpstr>
      <vt:lpstr>Trials 5 to 8: closing in</vt:lpstr>
      <vt:lpstr>Trials 9 to 12, and when we stop</vt:lpstr>
      <vt:lpstr>SD and θ̂</vt:lpstr>
      <vt:lpstr>What λ and γ do to the curve</vt:lpstr>
      <vt:lpstr>Same player, but γ = 0 and λ = 0</vt:lpstr>
      <vt:lpstr>If player makes a mistake</vt:lpstr>
      <vt:lpstr>Appndx::::: QUEST vs QUEST+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Tokey, Samin</dc:creator>
  <cp:lastModifiedBy>Tokey, Samin</cp:lastModifiedBy>
  <cp:revision>3</cp:revision>
  <dcterms:created xsi:type="dcterms:W3CDTF">2026-08-04T18:15:21Z</dcterms:created>
  <dcterms:modified xsi:type="dcterms:W3CDTF">2026-10-10T14:26:41Z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0x01010083D4676F6983E444877B0FF5773673D8</vt:lpwstr>
  </property>
</Properties>
</file>